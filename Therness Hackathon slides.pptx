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Raleway"/>
      <p:bold r:id="rId18"/>
      <p:boldItalic r:id="rId19"/>
    </p:embeddedFont>
    <p:embeddedFont>
      <p:font typeface="League Spartan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qq2Bm/6bgqoek3jJMUxm3/hIc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agueSpartan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eagueSpartan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9" name="Google Shape;12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0" name="Google Shape;130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132" name="Google Shape;13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1" name="Google Shape;19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  <p:sp>
        <p:nvSpPr>
          <p:cNvPr id="193" name="Google Shape;19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hyperlink" Target="https://saiassurance.com.au/the-true-cost-of-quality-model-in-the-automotive-industry/#:~:text=S.N.,of%20quality%20audits%20and%20similar" TargetMode="External"/><Relationship Id="rId6" Type="http://schemas.openxmlformats.org/officeDocument/2006/relationships/hyperlink" Target="https://saiassurance.com.au/the-true-cost-of-quality-model-in-the-automotive-industry/#:~:text=S.N.,of%20quality%20audits%20and%20similar" TargetMode="External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7.jp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9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8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31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200253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420587" y="5525723"/>
            <a:ext cx="15446826" cy="779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Build the Future of Industrial Intelligence 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872248" y="3756219"/>
            <a:ext cx="14543531" cy="1717644"/>
          </a:xfrm>
          <a:custGeom>
            <a:rect b="b" l="l" r="r" t="t"/>
            <a:pathLst>
              <a:path extrusionOk="0" h="2290191" w="19391376">
                <a:moveTo>
                  <a:pt x="0" y="0"/>
                </a:moveTo>
                <a:lnTo>
                  <a:pt x="19391376" y="0"/>
                </a:lnTo>
                <a:lnTo>
                  <a:pt x="19391376" y="2290191"/>
                </a:lnTo>
                <a:lnTo>
                  <a:pt x="0" y="2290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872253" y="9042721"/>
            <a:ext cx="14712048" cy="650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100% Monitoring, 0% Guesswork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4924313" y="61617"/>
            <a:ext cx="3298127" cy="1722882"/>
          </a:xfrm>
          <a:custGeom>
            <a:rect b="b" l="l" r="r" t="t"/>
            <a:pathLst>
              <a:path extrusionOk="0" h="2297176" w="4397502">
                <a:moveTo>
                  <a:pt x="0" y="0"/>
                </a:moveTo>
                <a:lnTo>
                  <a:pt x="4397502" y="0"/>
                </a:lnTo>
                <a:lnTo>
                  <a:pt x="4397502" y="2297176"/>
                </a:lnTo>
                <a:lnTo>
                  <a:pt x="0" y="2297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3" l="0" r="0" t="-63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14810" y="2460834"/>
            <a:ext cx="14058379" cy="1104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HACKATHON powered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-1692773" y="-5693273"/>
            <a:ext cx="21673565" cy="21673565"/>
          </a:xfrm>
          <a:custGeom>
            <a:rect b="b" l="l" r="r" t="t"/>
            <a:pathLst>
              <a:path extrusionOk="0" h="28898087" w="28898087">
                <a:moveTo>
                  <a:pt x="0" y="14449044"/>
                </a:moveTo>
                <a:cubicBezTo>
                  <a:pt x="0" y="6468999"/>
                  <a:pt x="6468999" y="0"/>
                  <a:pt x="14449044" y="0"/>
                </a:cubicBezTo>
                <a:lnTo>
                  <a:pt x="14449044" y="127000"/>
                </a:lnTo>
                <a:lnTo>
                  <a:pt x="14449044" y="0"/>
                </a:lnTo>
                <a:cubicBezTo>
                  <a:pt x="22428963" y="0"/>
                  <a:pt x="28898087" y="6468999"/>
                  <a:pt x="28898087" y="14449044"/>
                </a:cubicBezTo>
                <a:cubicBezTo>
                  <a:pt x="28898087" y="22429088"/>
                  <a:pt x="22428963" y="28898087"/>
                  <a:pt x="14449044" y="28898087"/>
                </a:cubicBezTo>
                <a:lnTo>
                  <a:pt x="14449044" y="28771087"/>
                </a:lnTo>
                <a:lnTo>
                  <a:pt x="14449044" y="28898087"/>
                </a:lnTo>
                <a:cubicBezTo>
                  <a:pt x="6468999" y="28898087"/>
                  <a:pt x="0" y="22428963"/>
                  <a:pt x="0" y="14449044"/>
                </a:cubicBezTo>
                <a:lnTo>
                  <a:pt x="127000" y="14449044"/>
                </a:lnTo>
                <a:lnTo>
                  <a:pt x="233934" y="14517497"/>
                </a:lnTo>
                <a:cubicBezTo>
                  <a:pt x="203454" y="14564995"/>
                  <a:pt x="145415" y="14586711"/>
                  <a:pt x="91313" y="14570836"/>
                </a:cubicBezTo>
                <a:cubicBezTo>
                  <a:pt x="37211" y="14554961"/>
                  <a:pt x="0" y="14505432"/>
                  <a:pt x="0" y="14449044"/>
                </a:cubicBezTo>
                <a:moveTo>
                  <a:pt x="254000" y="14449044"/>
                </a:moveTo>
                <a:lnTo>
                  <a:pt x="127000" y="14449044"/>
                </a:lnTo>
                <a:lnTo>
                  <a:pt x="20066" y="14380590"/>
                </a:lnTo>
                <a:cubicBezTo>
                  <a:pt x="50546" y="14333093"/>
                  <a:pt x="108585" y="14311376"/>
                  <a:pt x="162687" y="14327251"/>
                </a:cubicBezTo>
                <a:cubicBezTo>
                  <a:pt x="216789" y="14343126"/>
                  <a:pt x="254000" y="14392783"/>
                  <a:pt x="254000" y="14449171"/>
                </a:cubicBezTo>
                <a:cubicBezTo>
                  <a:pt x="254000" y="22288880"/>
                  <a:pt x="6609334" y="28644214"/>
                  <a:pt x="14449044" y="28644214"/>
                </a:cubicBezTo>
                <a:cubicBezTo>
                  <a:pt x="22288753" y="28644214"/>
                  <a:pt x="28644087" y="22288880"/>
                  <a:pt x="28644087" y="14449171"/>
                </a:cubicBezTo>
                <a:lnTo>
                  <a:pt x="28771087" y="14449171"/>
                </a:lnTo>
                <a:lnTo>
                  <a:pt x="28644087" y="14449171"/>
                </a:lnTo>
                <a:cubicBezTo>
                  <a:pt x="28644087" y="6609334"/>
                  <a:pt x="22288754" y="254000"/>
                  <a:pt x="14449044" y="254000"/>
                </a:cubicBezTo>
                <a:lnTo>
                  <a:pt x="14449044" y="127000"/>
                </a:lnTo>
                <a:lnTo>
                  <a:pt x="14449044" y="254000"/>
                </a:lnTo>
                <a:cubicBezTo>
                  <a:pt x="6609334" y="254000"/>
                  <a:pt x="254000" y="6609334"/>
                  <a:pt x="254000" y="144490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243482" y="146533"/>
            <a:ext cx="11801037" cy="208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Problem</a:t>
            </a:r>
            <a:endParaRPr/>
          </a:p>
        </p:txBody>
      </p:sp>
      <p:sp>
        <p:nvSpPr>
          <p:cNvPr descr="A black and white sign with white text  AI-generated content may be incorrect." id="100" name="Google Shape;100;p2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1922726" y="1791672"/>
            <a:ext cx="13648001" cy="145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5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Every defective weld is a ticking time bomb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922726" y="2629081"/>
            <a:ext cx="13087617" cy="106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“In automotive, </a:t>
            </a:r>
            <a:r>
              <a:rPr b="1" i="0" lang="en-US" sz="30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poor-quality defects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can cost </a:t>
            </a:r>
            <a:r>
              <a:rPr b="1" i="0" lang="en-US" sz="30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10/40%</a:t>
            </a: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of annual sales¹”</a:t>
            </a:r>
            <a:endParaRPr/>
          </a:p>
        </p:txBody>
      </p:sp>
      <p:sp>
        <p:nvSpPr>
          <p:cNvPr descr="Badge Cross with solid fill" id="103" name="Google Shape;103;p2"/>
          <p:cNvSpPr/>
          <p:nvPr/>
        </p:nvSpPr>
        <p:spPr>
          <a:xfrm>
            <a:off x="590374" y="4084153"/>
            <a:ext cx="1018784" cy="856097"/>
          </a:xfrm>
          <a:custGeom>
            <a:rect b="b" l="l" r="r" t="t"/>
            <a:pathLst>
              <a:path extrusionOk="0" h="856097" w="1018784">
                <a:moveTo>
                  <a:pt x="0" y="0"/>
                </a:moveTo>
                <a:lnTo>
                  <a:pt x="1018785" y="0"/>
                </a:lnTo>
                <a:lnTo>
                  <a:pt x="1018785" y="856097"/>
                </a:lnTo>
                <a:lnTo>
                  <a:pt x="0" y="856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498" l="0" r="0" t="-9499"/>
            </a:stretch>
          </a:blipFill>
          <a:ln>
            <a:noFill/>
          </a:ln>
        </p:spPr>
      </p:sp>
      <p:sp>
        <p:nvSpPr>
          <p:cNvPr descr="Badge Cross with solid fill" id="104" name="Google Shape;104;p2"/>
          <p:cNvSpPr/>
          <p:nvPr/>
        </p:nvSpPr>
        <p:spPr>
          <a:xfrm>
            <a:off x="590374" y="5444661"/>
            <a:ext cx="1018784" cy="856097"/>
          </a:xfrm>
          <a:custGeom>
            <a:rect b="b" l="l" r="r" t="t"/>
            <a:pathLst>
              <a:path extrusionOk="0" h="856097" w="1018784">
                <a:moveTo>
                  <a:pt x="0" y="0"/>
                </a:moveTo>
                <a:lnTo>
                  <a:pt x="1018785" y="0"/>
                </a:lnTo>
                <a:lnTo>
                  <a:pt x="1018785" y="856098"/>
                </a:lnTo>
                <a:lnTo>
                  <a:pt x="0" y="856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498" l="0" r="0" t="-9499"/>
            </a:stretch>
          </a:blipFill>
          <a:ln>
            <a:noFill/>
          </a:ln>
        </p:spPr>
      </p:sp>
      <p:sp>
        <p:nvSpPr>
          <p:cNvPr descr="Badge Cross with solid fill" id="105" name="Google Shape;105;p2"/>
          <p:cNvSpPr/>
          <p:nvPr/>
        </p:nvSpPr>
        <p:spPr>
          <a:xfrm>
            <a:off x="590374" y="6906923"/>
            <a:ext cx="1018784" cy="856097"/>
          </a:xfrm>
          <a:custGeom>
            <a:rect b="b" l="l" r="r" t="t"/>
            <a:pathLst>
              <a:path extrusionOk="0" h="856097" w="1018784">
                <a:moveTo>
                  <a:pt x="0" y="0"/>
                </a:moveTo>
                <a:lnTo>
                  <a:pt x="1018785" y="0"/>
                </a:lnTo>
                <a:lnTo>
                  <a:pt x="1018785" y="856097"/>
                </a:lnTo>
                <a:lnTo>
                  <a:pt x="0" y="856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498" l="0" r="0" t="-9499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1602450" y="4281349"/>
            <a:ext cx="66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5 %  — that’s all you inspect   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649857" y="5677900"/>
            <a:ext cx="652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2–3×  — hidden defects cost in rework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609154" y="7086444"/>
            <a:ext cx="6852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0 % real-time QC — all checks are after the fact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222696" y="9462364"/>
            <a:ext cx="6852447" cy="61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rgbClr val="467886"/>
                </a:solid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1: </a:t>
            </a:r>
            <a:r>
              <a:rPr b="0" i="0" lang="en-US" sz="1800" u="sng" cap="none" strike="noStrike">
                <a:solidFill>
                  <a:srgbClr val="467886"/>
                </a:solidFill>
                <a:latin typeface="Raleway"/>
                <a:ea typeface="Raleway"/>
                <a:cs typeface="Raleway"/>
                <a:sym typeface="Raleway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True Cost Of Quality In The Automotive Industry | Intertek SAI Global Australia</a:t>
            </a:r>
            <a:endParaRPr/>
          </a:p>
        </p:txBody>
      </p:sp>
      <p:sp>
        <p:nvSpPr>
          <p:cNvPr descr="Immagine che contiene persona, cibo, interno, cucinare  Il contenuto generato dall'IA potrebbe non essere corretto." id="110" name="Google Shape;110;p2"/>
          <p:cNvSpPr/>
          <p:nvPr/>
        </p:nvSpPr>
        <p:spPr>
          <a:xfrm>
            <a:off x="9132056" y="4135669"/>
            <a:ext cx="9155906" cy="6104001"/>
          </a:xfrm>
          <a:custGeom>
            <a:rect b="b" l="l" r="r" t="t"/>
            <a:pathLst>
              <a:path extrusionOk="0" h="8138668" w="12207875">
                <a:moveTo>
                  <a:pt x="0" y="0"/>
                </a:moveTo>
                <a:lnTo>
                  <a:pt x="12207875" y="0"/>
                </a:lnTo>
                <a:lnTo>
                  <a:pt x="12207875" y="8138668"/>
                </a:lnTo>
                <a:lnTo>
                  <a:pt x="0" y="8138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-1692773" y="-5693273"/>
            <a:ext cx="21673565" cy="21673565"/>
          </a:xfrm>
          <a:custGeom>
            <a:rect b="b" l="l" r="r" t="t"/>
            <a:pathLst>
              <a:path extrusionOk="0" h="28898087" w="28898087">
                <a:moveTo>
                  <a:pt x="0" y="14449044"/>
                </a:moveTo>
                <a:cubicBezTo>
                  <a:pt x="0" y="6468999"/>
                  <a:pt x="6468999" y="0"/>
                  <a:pt x="14449044" y="0"/>
                </a:cubicBezTo>
                <a:lnTo>
                  <a:pt x="14449044" y="127000"/>
                </a:lnTo>
                <a:lnTo>
                  <a:pt x="14449044" y="0"/>
                </a:lnTo>
                <a:cubicBezTo>
                  <a:pt x="22428963" y="0"/>
                  <a:pt x="28898087" y="6468999"/>
                  <a:pt x="28898087" y="14449044"/>
                </a:cubicBezTo>
                <a:cubicBezTo>
                  <a:pt x="28898087" y="22429088"/>
                  <a:pt x="22428963" y="28898087"/>
                  <a:pt x="14449044" y="28898087"/>
                </a:cubicBezTo>
                <a:lnTo>
                  <a:pt x="14449044" y="28771087"/>
                </a:lnTo>
                <a:lnTo>
                  <a:pt x="14449044" y="28898087"/>
                </a:lnTo>
                <a:cubicBezTo>
                  <a:pt x="6468999" y="28898087"/>
                  <a:pt x="0" y="22428963"/>
                  <a:pt x="0" y="14449044"/>
                </a:cubicBezTo>
                <a:lnTo>
                  <a:pt x="127000" y="14449044"/>
                </a:lnTo>
                <a:lnTo>
                  <a:pt x="233934" y="14517497"/>
                </a:lnTo>
                <a:cubicBezTo>
                  <a:pt x="203454" y="14564995"/>
                  <a:pt x="145415" y="14586711"/>
                  <a:pt x="91313" y="14570836"/>
                </a:cubicBezTo>
                <a:cubicBezTo>
                  <a:pt x="37211" y="14554961"/>
                  <a:pt x="0" y="14505432"/>
                  <a:pt x="0" y="14449044"/>
                </a:cubicBezTo>
                <a:moveTo>
                  <a:pt x="254000" y="14449044"/>
                </a:moveTo>
                <a:lnTo>
                  <a:pt x="127000" y="14449044"/>
                </a:lnTo>
                <a:lnTo>
                  <a:pt x="20066" y="14380590"/>
                </a:lnTo>
                <a:cubicBezTo>
                  <a:pt x="50546" y="14333093"/>
                  <a:pt x="108585" y="14311376"/>
                  <a:pt x="162687" y="14327251"/>
                </a:cubicBezTo>
                <a:cubicBezTo>
                  <a:pt x="216789" y="14343126"/>
                  <a:pt x="254000" y="14392783"/>
                  <a:pt x="254000" y="14449171"/>
                </a:cubicBezTo>
                <a:cubicBezTo>
                  <a:pt x="254000" y="22288880"/>
                  <a:pt x="6609334" y="28644214"/>
                  <a:pt x="14449044" y="28644214"/>
                </a:cubicBezTo>
                <a:cubicBezTo>
                  <a:pt x="22288753" y="28644214"/>
                  <a:pt x="28644087" y="22288880"/>
                  <a:pt x="28644087" y="14449171"/>
                </a:cubicBezTo>
                <a:lnTo>
                  <a:pt x="28771087" y="14449171"/>
                </a:lnTo>
                <a:lnTo>
                  <a:pt x="28644087" y="14449171"/>
                </a:lnTo>
                <a:cubicBezTo>
                  <a:pt x="28644087" y="6609334"/>
                  <a:pt x="22288754" y="254000"/>
                  <a:pt x="14449044" y="254000"/>
                </a:cubicBezTo>
                <a:lnTo>
                  <a:pt x="14449044" y="127000"/>
                </a:lnTo>
                <a:lnTo>
                  <a:pt x="14449044" y="254000"/>
                </a:lnTo>
                <a:cubicBezTo>
                  <a:pt x="6609334" y="254000"/>
                  <a:pt x="254000" y="6609334"/>
                  <a:pt x="254000" y="144490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709350" y="2047025"/>
            <a:ext cx="161967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combines </a:t>
            </a:r>
            <a:r>
              <a:rPr b="1" i="0" lang="en-US" sz="34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thermal imaging </a:t>
            </a:r>
            <a:r>
              <a:rPr b="1" i="0" lang="en-US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b="1" i="0" lang="en-US" sz="34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AI-driven vision analysis </a:t>
            </a:r>
            <a:r>
              <a:rPr b="1" i="0" lang="en-US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 deliver real-time, </a:t>
            </a:r>
            <a:r>
              <a:rPr b="1" i="0" lang="en-US" sz="34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100 % weld inspection</a:t>
            </a:r>
            <a:r>
              <a:rPr b="1" i="0" lang="en-US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endParaRPr sz="1200"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Integrated directly into production lines, it </a:t>
            </a:r>
            <a:r>
              <a:rPr b="1" i="0" lang="en-US" sz="34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detects defects instantly</a:t>
            </a:r>
            <a:r>
              <a:rPr b="1" i="0" lang="en-US" sz="3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, ensures digital traceability, and eliminates destructive testing.</a:t>
            </a:r>
            <a:endParaRPr sz="1200"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descr="A black and white sign with white text  AI-generated content may be incorrect." id="117" name="Google Shape;117;p3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descr="A machine with a welding machine  AI-generated content may be incorrect." id="118" name="Google Shape;118;p3"/>
          <p:cNvSpPr/>
          <p:nvPr/>
        </p:nvSpPr>
        <p:spPr>
          <a:xfrm>
            <a:off x="9410186" y="5530225"/>
            <a:ext cx="7753255" cy="4092606"/>
          </a:xfrm>
          <a:custGeom>
            <a:rect b="b" l="l" r="r" t="t"/>
            <a:pathLst>
              <a:path extrusionOk="0" h="5456809" w="10337673">
                <a:moveTo>
                  <a:pt x="0" y="0"/>
                </a:moveTo>
                <a:lnTo>
                  <a:pt x="10337673" y="0"/>
                </a:lnTo>
                <a:lnTo>
                  <a:pt x="10337673" y="5456809"/>
                </a:lnTo>
                <a:lnTo>
                  <a:pt x="0" y="545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144" l="-14527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1598914" y="6404217"/>
            <a:ext cx="80268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Real-time weld monitoring and analysis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Automatic defect detection and classification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Seamless integration with robotic welding systems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Complete digital quality documentation</a:t>
            </a:r>
            <a:endParaRPr sz="1200"/>
          </a:p>
        </p:txBody>
      </p:sp>
      <p:sp>
        <p:nvSpPr>
          <p:cNvPr id="120" name="Google Shape;120;p3"/>
          <p:cNvSpPr txBox="1"/>
          <p:nvPr/>
        </p:nvSpPr>
        <p:spPr>
          <a:xfrm>
            <a:off x="1958939" y="5404923"/>
            <a:ext cx="295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Benefits</a:t>
            </a:r>
            <a:endParaRPr/>
          </a:p>
        </p:txBody>
      </p:sp>
      <p:sp>
        <p:nvSpPr>
          <p:cNvPr descr="Badge Tick with solid fill" id="121" name="Google Shape;121;p3"/>
          <p:cNvSpPr/>
          <p:nvPr/>
        </p:nvSpPr>
        <p:spPr>
          <a:xfrm>
            <a:off x="779386" y="5143500"/>
            <a:ext cx="1076925" cy="1076925"/>
          </a:xfrm>
          <a:custGeom>
            <a:rect b="b" l="l" r="r" t="t"/>
            <a:pathLst>
              <a:path extrusionOk="0" h="1076925" w="1076925">
                <a:moveTo>
                  <a:pt x="0" y="0"/>
                </a:moveTo>
                <a:lnTo>
                  <a:pt x="1076925" y="0"/>
                </a:lnTo>
                <a:lnTo>
                  <a:pt x="1076925" y="1076925"/>
                </a:lnTo>
                <a:lnTo>
                  <a:pt x="0" y="1076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1124541" y="6475088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E1B6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124541" y="7383213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E1B6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124541" y="8278663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E1B6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124541" y="9174137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E1B6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2131143" y="155010"/>
            <a:ext cx="15134520" cy="144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Technology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ack and white sign with white text  AI-generated content may be incorrect." id="135" name="Google Shape;135;p4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36" name="Google Shape;136;p4"/>
          <p:cNvSpPr txBox="1"/>
          <p:nvPr/>
        </p:nvSpPr>
        <p:spPr>
          <a:xfrm>
            <a:off x="1480118" y="2487397"/>
            <a:ext cx="15763942" cy="1728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technology seamlessly </a:t>
            </a:r>
            <a:r>
              <a:rPr b="1" i="0" lang="en-US" sz="36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adapts to any welding setup</a:t>
            </a:r>
            <a:r>
              <a:rPr b="1" i="0" lang="en-US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r>
              <a:rPr b="1" i="0" lang="en-US" sz="36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from traditional processes to advanced manufacturing, ensuring accurate, real-time monitoring </a:t>
            </a:r>
            <a:r>
              <a:rPr b="1" i="0" lang="en-US" sz="36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in every environment</a:t>
            </a:r>
            <a:r>
              <a:rPr b="1" i="0" lang="en-US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906599" y="4726743"/>
            <a:ext cx="9400032" cy="4494656"/>
          </a:xfrm>
          <a:custGeom>
            <a:rect b="b" l="l" r="r" t="t"/>
            <a:pathLst>
              <a:path extrusionOk="0" h="5992876" w="12533376">
                <a:moveTo>
                  <a:pt x="0" y="0"/>
                </a:moveTo>
                <a:lnTo>
                  <a:pt x="12533376" y="0"/>
                </a:lnTo>
                <a:lnTo>
                  <a:pt x="12533376" y="5992876"/>
                </a:lnTo>
                <a:lnTo>
                  <a:pt x="0" y="5992876"/>
                </a:lnTo>
                <a:close/>
              </a:path>
            </a:pathLst>
          </a:custGeom>
          <a:solidFill>
            <a:srgbClr val="747474">
              <a:alpha val="80784"/>
            </a:srgbClr>
          </a:solidFill>
          <a:ln>
            <a:noFill/>
          </a:ln>
        </p:spPr>
      </p:sp>
      <p:sp>
        <p:nvSpPr>
          <p:cNvPr id="138" name="Google Shape;138;p4"/>
          <p:cNvSpPr txBox="1"/>
          <p:nvPr/>
        </p:nvSpPr>
        <p:spPr>
          <a:xfrm>
            <a:off x="10897495" y="4781760"/>
            <a:ext cx="6666319" cy="38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Supported Welding Methodologies</a:t>
            </a:r>
            <a:endParaRPr/>
          </a:p>
          <a:p>
            <a:pPr indent="-391478" lvl="2" marL="11744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⚬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MIG / MAG Welding</a:t>
            </a:r>
            <a:endParaRPr/>
          </a:p>
          <a:p>
            <a:pPr indent="-391478" lvl="2" marL="11744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⚬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TIG Welding</a:t>
            </a:r>
            <a:endParaRPr/>
          </a:p>
          <a:p>
            <a:pPr indent="-391478" lvl="2" marL="11744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⚬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Submerged Arc Welding</a:t>
            </a:r>
            <a:endParaRPr/>
          </a:p>
          <a:p>
            <a:pPr indent="-391478" lvl="2" marL="11744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⚬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Laser Welding</a:t>
            </a:r>
            <a:endParaRPr/>
          </a:p>
          <a:p>
            <a:pPr indent="-391478" lvl="2" marL="11744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⚬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Wire Arc Additive Manufacturing</a:t>
            </a:r>
            <a:endParaRPr/>
          </a:p>
          <a:p>
            <a:pPr indent="-391478" lvl="2" marL="11744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⚬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Cladding Applications</a:t>
            </a:r>
            <a:endParaRPr/>
          </a:p>
        </p:txBody>
      </p:sp>
      <p:sp>
        <p:nvSpPr>
          <p:cNvPr descr="A white line drawing of a machine  AI-generated content may be incorrect." id="139" name="Google Shape;139;p4"/>
          <p:cNvSpPr/>
          <p:nvPr/>
        </p:nvSpPr>
        <p:spPr>
          <a:xfrm>
            <a:off x="9377840" y="4794352"/>
            <a:ext cx="1048417" cy="1048417"/>
          </a:xfrm>
          <a:custGeom>
            <a:rect b="b" l="l" r="r" t="t"/>
            <a:pathLst>
              <a:path extrusionOk="0" h="1397889" w="1397889">
                <a:moveTo>
                  <a:pt x="0" y="0"/>
                </a:moveTo>
                <a:lnTo>
                  <a:pt x="1397889" y="0"/>
                </a:lnTo>
                <a:lnTo>
                  <a:pt x="1397889" y="1397889"/>
                </a:lnTo>
                <a:lnTo>
                  <a:pt x="0" y="1397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18640" y="4726743"/>
            <a:ext cx="8887968" cy="4494656"/>
          </a:xfrm>
          <a:custGeom>
            <a:rect b="b" l="l" r="r" t="t"/>
            <a:pathLst>
              <a:path extrusionOk="0" h="5992876" w="11850624">
                <a:moveTo>
                  <a:pt x="0" y="0"/>
                </a:moveTo>
                <a:lnTo>
                  <a:pt x="11850624" y="0"/>
                </a:lnTo>
                <a:lnTo>
                  <a:pt x="11850624" y="5992876"/>
                </a:lnTo>
                <a:lnTo>
                  <a:pt x="0" y="5992876"/>
                </a:lnTo>
                <a:close/>
              </a:path>
            </a:pathLst>
          </a:custGeom>
          <a:solidFill>
            <a:srgbClr val="3A3A3A">
              <a:alpha val="80784"/>
            </a:srgbClr>
          </a:solid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1343463" y="4925759"/>
            <a:ext cx="5465293" cy="3842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Supported Materials:</a:t>
            </a:r>
            <a:endParaRPr/>
          </a:p>
          <a:p>
            <a:pPr indent="0" lvl="0" marL="0" marR="0" rtl="0" algn="l">
              <a:lnSpc>
                <a:spcPct val="7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2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Carbon steel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Stainless steel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Aluminum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Nickel-based alloys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Titanium alloys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Plastic materials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 rot="5400000">
            <a:off x="8032880" y="5991730"/>
            <a:ext cx="2278952" cy="1964626"/>
          </a:xfrm>
          <a:custGeom>
            <a:rect b="b" l="l" r="r" t="t"/>
            <a:pathLst>
              <a:path extrusionOk="0" h="2619502" w="3038602">
                <a:moveTo>
                  <a:pt x="0" y="2619502"/>
                </a:moveTo>
                <a:lnTo>
                  <a:pt x="1519301" y="0"/>
                </a:lnTo>
                <a:lnTo>
                  <a:pt x="3038602" y="2619502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</p:sp>
      <p:sp>
        <p:nvSpPr>
          <p:cNvPr id="143" name="Google Shape;143;p4"/>
          <p:cNvSpPr txBox="1"/>
          <p:nvPr/>
        </p:nvSpPr>
        <p:spPr>
          <a:xfrm>
            <a:off x="3210249" y="202263"/>
            <a:ext cx="12303690" cy="144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Technology</a:t>
            </a:r>
            <a:endParaRPr/>
          </a:p>
        </p:txBody>
      </p:sp>
      <p:sp>
        <p:nvSpPr>
          <p:cNvPr descr="Materie prime con riempimento a tinta unita" id="144" name="Google Shape;144;p4"/>
          <p:cNvSpPr/>
          <p:nvPr/>
        </p:nvSpPr>
        <p:spPr>
          <a:xfrm>
            <a:off x="175336" y="4794361"/>
            <a:ext cx="1048417" cy="1048417"/>
          </a:xfrm>
          <a:custGeom>
            <a:rect b="b" l="l" r="r" t="t"/>
            <a:pathLst>
              <a:path extrusionOk="0" h="1048417" w="1048417">
                <a:moveTo>
                  <a:pt x="0" y="0"/>
                </a:moveTo>
                <a:lnTo>
                  <a:pt x="1048417" y="0"/>
                </a:lnTo>
                <a:lnTo>
                  <a:pt x="1048417" y="1048417"/>
                </a:lnTo>
                <a:lnTo>
                  <a:pt x="0" y="1048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ack and white sign with white text  AI-generated content may be incorrect." id="149" name="Google Shape;149;p5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50" name="Google Shape;150;p5"/>
          <p:cNvSpPr txBox="1"/>
          <p:nvPr/>
        </p:nvSpPr>
        <p:spPr>
          <a:xfrm>
            <a:off x="2595505" y="596227"/>
            <a:ext cx="12782845" cy="144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HeatCore AI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1205950" y="3155650"/>
            <a:ext cx="78810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Proprietary deep-learning algorithms 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 weld-defect classification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Provides</a:t>
            </a:r>
            <a:r>
              <a:rPr b="1" i="0" lang="en-US" sz="25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 99.2 % accuracy 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with </a:t>
            </a:r>
            <a:r>
              <a:rPr b="1" i="0" lang="en-US" sz="25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&lt; 100 ms response time 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Edge-based architecture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, seamless on-site deployment 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Easy to integrate 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into any robotic cell; delivering reliable data with </a:t>
            </a:r>
            <a:r>
              <a:rPr b="1" i="0" lang="en-US" sz="25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minimal setup and downtime</a:t>
            </a:r>
            <a:endParaRPr sz="1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205942" y="2342778"/>
            <a:ext cx="295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Features:</a:t>
            </a:r>
            <a:endParaRPr/>
          </a:p>
        </p:txBody>
      </p:sp>
      <p:sp>
        <p:nvSpPr>
          <p:cNvPr descr="Badge Tick with solid fill" id="153" name="Google Shape;153;p5"/>
          <p:cNvSpPr/>
          <p:nvPr/>
        </p:nvSpPr>
        <p:spPr>
          <a:xfrm>
            <a:off x="129022" y="2019323"/>
            <a:ext cx="1076925" cy="1076925"/>
          </a:xfrm>
          <a:custGeom>
            <a:rect b="b" l="l" r="r" t="t"/>
            <a:pathLst>
              <a:path extrusionOk="0" h="1076925" w="1076925">
                <a:moveTo>
                  <a:pt x="0" y="0"/>
                </a:moveTo>
                <a:lnTo>
                  <a:pt x="1076926" y="0"/>
                </a:lnTo>
                <a:lnTo>
                  <a:pt x="1076926" y="1076925"/>
                </a:lnTo>
                <a:lnTo>
                  <a:pt x="0" y="1076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>
            <a:off x="743803" y="3173619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746057" y="4068197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743804" y="4962779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132667" y="6940597"/>
            <a:ext cx="74841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Specifications: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Weight: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270 g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Length: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7 cm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Frame Rate: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25 Hz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Air Purge System: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Low-maintenance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Temperature Range: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–20 °C to 1500 °C</a:t>
            </a:r>
            <a:endParaRPr/>
          </a:p>
        </p:txBody>
      </p:sp>
      <p:sp>
        <p:nvSpPr>
          <p:cNvPr descr="A clipboard with check marks and a gear  AI-generated content may be incorrect." id="158" name="Google Shape;158;p5"/>
          <p:cNvSpPr/>
          <p:nvPr/>
        </p:nvSpPr>
        <p:spPr>
          <a:xfrm>
            <a:off x="271060" y="6837726"/>
            <a:ext cx="792861" cy="877157"/>
          </a:xfrm>
          <a:custGeom>
            <a:rect b="b" l="l" r="r" t="t"/>
            <a:pathLst>
              <a:path extrusionOk="0" h="1169543" w="1057148">
                <a:moveTo>
                  <a:pt x="0" y="0"/>
                </a:moveTo>
                <a:lnTo>
                  <a:pt x="1057148" y="0"/>
                </a:lnTo>
                <a:lnTo>
                  <a:pt x="1057148" y="1169543"/>
                </a:lnTo>
                <a:lnTo>
                  <a:pt x="0" y="11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311" r="-5317" t="0"/>
            </a:stretch>
          </a:blipFill>
          <a:ln>
            <a:noFill/>
          </a:ln>
        </p:spPr>
      </p:sp>
      <p:sp>
        <p:nvSpPr>
          <p:cNvPr id="159" name="Google Shape;159;p5"/>
          <p:cNvSpPr/>
          <p:nvPr/>
        </p:nvSpPr>
        <p:spPr>
          <a:xfrm>
            <a:off x="746046" y="5951689"/>
            <a:ext cx="386620" cy="386620"/>
          </a:xfrm>
          <a:custGeom>
            <a:rect b="b" l="l" r="r" t="t"/>
            <a:pathLst>
              <a:path extrusionOk="0" h="515493" w="515493">
                <a:moveTo>
                  <a:pt x="0" y="257683"/>
                </a:moveTo>
                <a:cubicBezTo>
                  <a:pt x="0" y="115443"/>
                  <a:pt x="115443" y="0"/>
                  <a:pt x="257683" y="0"/>
                </a:cubicBezTo>
                <a:cubicBezTo>
                  <a:pt x="399923" y="0"/>
                  <a:pt x="515493" y="115443"/>
                  <a:pt x="515493" y="257683"/>
                </a:cubicBezTo>
                <a:cubicBezTo>
                  <a:pt x="515493" y="399923"/>
                  <a:pt x="400050" y="515493"/>
                  <a:pt x="257683" y="515493"/>
                </a:cubicBezTo>
                <a:cubicBezTo>
                  <a:pt x="115316" y="515493"/>
                  <a:pt x="0" y="400050"/>
                  <a:pt x="0" y="25768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5"/>
          <p:cNvPicPr preferRelativeResize="0"/>
          <p:nvPr/>
        </p:nvPicPr>
        <p:blipFill rotWithShape="1">
          <a:blip r:embed="rId6">
            <a:alphaModFix/>
          </a:blip>
          <a:srcRect b="22873" l="0" r="0" t="0"/>
          <a:stretch/>
        </p:blipFill>
        <p:spPr>
          <a:xfrm>
            <a:off x="8800309" y="3761190"/>
            <a:ext cx="9109834" cy="4641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-1692773" y="-5693273"/>
            <a:ext cx="21673565" cy="21673565"/>
          </a:xfrm>
          <a:custGeom>
            <a:rect b="b" l="l" r="r" t="t"/>
            <a:pathLst>
              <a:path extrusionOk="0" h="28898087" w="28898087">
                <a:moveTo>
                  <a:pt x="0" y="14449044"/>
                </a:moveTo>
                <a:cubicBezTo>
                  <a:pt x="0" y="6468999"/>
                  <a:pt x="6468999" y="0"/>
                  <a:pt x="14449044" y="0"/>
                </a:cubicBezTo>
                <a:lnTo>
                  <a:pt x="14449044" y="127000"/>
                </a:lnTo>
                <a:lnTo>
                  <a:pt x="14449044" y="0"/>
                </a:lnTo>
                <a:cubicBezTo>
                  <a:pt x="22428963" y="0"/>
                  <a:pt x="28898087" y="6468999"/>
                  <a:pt x="28898087" y="14449044"/>
                </a:cubicBezTo>
                <a:cubicBezTo>
                  <a:pt x="28898087" y="22429088"/>
                  <a:pt x="22428963" y="28898087"/>
                  <a:pt x="14449044" y="28898087"/>
                </a:cubicBezTo>
                <a:lnTo>
                  <a:pt x="14449044" y="28771087"/>
                </a:lnTo>
                <a:lnTo>
                  <a:pt x="14449044" y="28898087"/>
                </a:lnTo>
                <a:cubicBezTo>
                  <a:pt x="6468999" y="28898087"/>
                  <a:pt x="0" y="22428963"/>
                  <a:pt x="0" y="14449044"/>
                </a:cubicBezTo>
                <a:lnTo>
                  <a:pt x="127000" y="14449044"/>
                </a:lnTo>
                <a:lnTo>
                  <a:pt x="233934" y="14517497"/>
                </a:lnTo>
                <a:cubicBezTo>
                  <a:pt x="203454" y="14564995"/>
                  <a:pt x="145415" y="14586711"/>
                  <a:pt x="91313" y="14570836"/>
                </a:cubicBezTo>
                <a:cubicBezTo>
                  <a:pt x="37211" y="14554961"/>
                  <a:pt x="0" y="14505432"/>
                  <a:pt x="0" y="14449044"/>
                </a:cubicBezTo>
                <a:moveTo>
                  <a:pt x="254000" y="14449044"/>
                </a:moveTo>
                <a:lnTo>
                  <a:pt x="127000" y="14449044"/>
                </a:lnTo>
                <a:lnTo>
                  <a:pt x="20066" y="14380590"/>
                </a:lnTo>
                <a:cubicBezTo>
                  <a:pt x="50546" y="14333093"/>
                  <a:pt x="108585" y="14311376"/>
                  <a:pt x="162687" y="14327251"/>
                </a:cubicBezTo>
                <a:cubicBezTo>
                  <a:pt x="216789" y="14343126"/>
                  <a:pt x="254000" y="14392783"/>
                  <a:pt x="254000" y="14449171"/>
                </a:cubicBezTo>
                <a:cubicBezTo>
                  <a:pt x="254000" y="22288880"/>
                  <a:pt x="6609334" y="28644214"/>
                  <a:pt x="14449044" y="28644214"/>
                </a:cubicBezTo>
                <a:cubicBezTo>
                  <a:pt x="22288753" y="28644214"/>
                  <a:pt x="28644087" y="22288880"/>
                  <a:pt x="28644087" y="14449171"/>
                </a:cubicBezTo>
                <a:lnTo>
                  <a:pt x="28771087" y="14449171"/>
                </a:lnTo>
                <a:lnTo>
                  <a:pt x="28644087" y="14449171"/>
                </a:lnTo>
                <a:cubicBezTo>
                  <a:pt x="28644087" y="6609334"/>
                  <a:pt x="22288754" y="254000"/>
                  <a:pt x="14449044" y="254000"/>
                </a:cubicBezTo>
                <a:lnTo>
                  <a:pt x="14449044" y="127000"/>
                </a:lnTo>
                <a:lnTo>
                  <a:pt x="14449044" y="254000"/>
                </a:lnTo>
                <a:cubicBezTo>
                  <a:pt x="6609334" y="254000"/>
                  <a:pt x="254000" y="6609334"/>
                  <a:pt x="254000" y="144490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 black and white sign with white text  AI-generated content may be incorrect." id="166" name="Google Shape;166;p6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67" name="Google Shape;167;p6"/>
          <p:cNvSpPr txBox="1"/>
          <p:nvPr/>
        </p:nvSpPr>
        <p:spPr>
          <a:xfrm>
            <a:off x="1782270" y="270710"/>
            <a:ext cx="14723450" cy="144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Value Proposition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861611" y="1701060"/>
            <a:ext cx="4720923" cy="3455889"/>
          </a:xfrm>
          <a:custGeom>
            <a:rect b="b" l="l" r="r" t="t"/>
            <a:pathLst>
              <a:path extrusionOk="0" h="3455889" w="4720923">
                <a:moveTo>
                  <a:pt x="0" y="0"/>
                </a:moveTo>
                <a:lnTo>
                  <a:pt x="4720924" y="0"/>
                </a:lnTo>
                <a:lnTo>
                  <a:pt x="4720924" y="3455889"/>
                </a:lnTo>
                <a:lnTo>
                  <a:pt x="0" y="3455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5705475" y="1708890"/>
            <a:ext cx="3448050" cy="4720923"/>
          </a:xfrm>
          <a:custGeom>
            <a:rect b="b" l="l" r="r" t="t"/>
            <a:pathLst>
              <a:path extrusionOk="0" h="4720923" w="3448050">
                <a:moveTo>
                  <a:pt x="0" y="0"/>
                </a:moveTo>
                <a:lnTo>
                  <a:pt x="3448050" y="0"/>
                </a:lnTo>
                <a:lnTo>
                  <a:pt x="3448050" y="4720923"/>
                </a:lnTo>
                <a:lnTo>
                  <a:pt x="0" y="4720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 rot="5400000">
            <a:off x="6351451" y="4511002"/>
            <a:ext cx="3429000" cy="4701826"/>
          </a:xfrm>
          <a:custGeom>
            <a:rect b="b" l="l" r="r" t="t"/>
            <a:pathLst>
              <a:path extrusionOk="0" h="6269101" w="4572000">
                <a:moveTo>
                  <a:pt x="0" y="6269101"/>
                </a:moveTo>
                <a:lnTo>
                  <a:pt x="186944" y="6245479"/>
                </a:lnTo>
                <a:cubicBezTo>
                  <a:pt x="863219" y="6073775"/>
                  <a:pt x="1430528" y="4980940"/>
                  <a:pt x="1685036" y="3476752"/>
                </a:cubicBezTo>
                <a:lnTo>
                  <a:pt x="1697101" y="3394329"/>
                </a:lnTo>
                <a:lnTo>
                  <a:pt x="1746504" y="3056763"/>
                </a:lnTo>
                <a:cubicBezTo>
                  <a:pt x="1799971" y="2627249"/>
                  <a:pt x="1828673" y="2170684"/>
                  <a:pt x="1828673" y="1697228"/>
                </a:cubicBezTo>
                <a:cubicBezTo>
                  <a:pt x="1828673" y="1223772"/>
                  <a:pt x="1799844" y="767207"/>
                  <a:pt x="1746504" y="337693"/>
                </a:cubicBezTo>
                <a:lnTo>
                  <a:pt x="1697101" y="0"/>
                </a:lnTo>
                <a:lnTo>
                  <a:pt x="1779524" y="12065"/>
                </a:lnTo>
                <a:cubicBezTo>
                  <a:pt x="3420618" y="289687"/>
                  <a:pt x="4572000" y="939673"/>
                  <a:pt x="4572000" y="1697101"/>
                </a:cubicBezTo>
                <a:lnTo>
                  <a:pt x="4551299" y="2135632"/>
                </a:lnTo>
                <a:cubicBezTo>
                  <a:pt x="4345178" y="4300982"/>
                  <a:pt x="2628900" y="6025896"/>
                  <a:pt x="467487" y="6245352"/>
                </a:cubicBezTo>
                <a:close/>
              </a:path>
            </a:pathLst>
          </a:custGeom>
          <a:solidFill>
            <a:srgbClr val="E8C7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 rot="5400000">
            <a:off x="8507587" y="4510964"/>
            <a:ext cx="4701826" cy="3429000"/>
          </a:xfrm>
          <a:custGeom>
            <a:rect b="b" l="l" r="r" t="t"/>
            <a:pathLst>
              <a:path extrusionOk="0" h="4572000" w="6269101">
                <a:moveTo>
                  <a:pt x="0" y="2874899"/>
                </a:moveTo>
                <a:lnTo>
                  <a:pt x="12065" y="2792476"/>
                </a:lnTo>
                <a:cubicBezTo>
                  <a:pt x="266573" y="1288161"/>
                  <a:pt x="833882" y="195326"/>
                  <a:pt x="1510157" y="23622"/>
                </a:cubicBezTo>
                <a:lnTo>
                  <a:pt x="1697101" y="0"/>
                </a:lnTo>
                <a:lnTo>
                  <a:pt x="2164588" y="23622"/>
                </a:lnTo>
                <a:cubicBezTo>
                  <a:pt x="4470019" y="257683"/>
                  <a:pt x="6269101" y="2204720"/>
                  <a:pt x="6269101" y="4572000"/>
                </a:cubicBezTo>
                <a:cubicBezTo>
                  <a:pt x="6269101" y="3814445"/>
                  <a:pt x="5117719" y="3164586"/>
                  <a:pt x="3476752" y="2886964"/>
                </a:cubicBezTo>
                <a:lnTo>
                  <a:pt x="3394329" y="2874899"/>
                </a:lnTo>
                <a:lnTo>
                  <a:pt x="3056763" y="2825496"/>
                </a:lnTo>
                <a:cubicBezTo>
                  <a:pt x="2627249" y="2772029"/>
                  <a:pt x="2170684" y="2743327"/>
                  <a:pt x="1697228" y="2743327"/>
                </a:cubicBezTo>
                <a:cubicBezTo>
                  <a:pt x="1223772" y="2743327"/>
                  <a:pt x="767207" y="2772156"/>
                  <a:pt x="337693" y="2825496"/>
                </a:cubicBezTo>
                <a:close/>
              </a:path>
            </a:pathLst>
          </a:custGeom>
          <a:solidFill>
            <a:srgbClr val="78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Radioactive with solid fill" id="172" name="Google Shape;172;p6"/>
          <p:cNvSpPr/>
          <p:nvPr/>
        </p:nvSpPr>
        <p:spPr>
          <a:xfrm>
            <a:off x="10702138" y="5581964"/>
            <a:ext cx="1371600" cy="1371600"/>
          </a:xfrm>
          <a:custGeom>
            <a:rect b="b" l="l" r="r" t="t"/>
            <a:pathLst>
              <a:path extrusionOk="0" h="1371600" w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6"/>
          <p:cNvSpPr txBox="1"/>
          <p:nvPr/>
        </p:nvSpPr>
        <p:spPr>
          <a:xfrm>
            <a:off x="2436790" y="1944738"/>
            <a:ext cx="1471851" cy="129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3970537" y="1983648"/>
            <a:ext cx="1324185" cy="129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13970537" y="6247019"/>
            <a:ext cx="1324185" cy="129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2547252" y="6215139"/>
            <a:ext cx="1324185" cy="129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1279379" y="3155842"/>
            <a:ext cx="4121496" cy="88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Cost Reduction &amp; Sustainability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2799276" y="3028693"/>
            <a:ext cx="3831765" cy="88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Process Optimization &amp; Efficiency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12681890" y="7339746"/>
            <a:ext cx="4181580" cy="88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Risk Mitigation &amp; Compliance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118597" y="7341432"/>
            <a:ext cx="4181494" cy="88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C00"/>
                </a:solidFill>
                <a:latin typeface="Raleway"/>
                <a:ea typeface="Raleway"/>
                <a:cs typeface="Raleway"/>
                <a:sym typeface="Raleway"/>
              </a:rPr>
              <a:t>Market Advantage &amp; Business Value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1264663" y="4128211"/>
            <a:ext cx="4131135" cy="1035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Cut QC costs up to 70% while reducing waste, energy use, and boosting ESG performance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12943246" y="3914670"/>
            <a:ext cx="3920214" cy="13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 real-time thermal data to optimize QC, automate processes, and integrate easily with minimal downtime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2954171" y="8375685"/>
            <a:ext cx="3831765" cy="13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Achieve 100% real-time weld inspection with instant alerts and full traceability to prevent recalls and claims.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1155316" y="8307743"/>
            <a:ext cx="4600442" cy="1035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Certified quality boosts reputation, supports premium pricing, and builds lasting customer trust</a:t>
            </a:r>
            <a:endParaRPr/>
          </a:p>
        </p:txBody>
      </p:sp>
      <p:sp>
        <p:nvSpPr>
          <p:cNvPr descr="A white icon with a hand and a dollar sign  AI-generated content may be incorrect." id="185" name="Google Shape;185;p6"/>
          <p:cNvSpPr/>
          <p:nvPr/>
        </p:nvSpPr>
        <p:spPr>
          <a:xfrm>
            <a:off x="7193061" y="6515138"/>
            <a:ext cx="1745742" cy="1745742"/>
          </a:xfrm>
          <a:custGeom>
            <a:rect b="b" l="l" r="r" t="t"/>
            <a:pathLst>
              <a:path extrusionOk="0" h="2327656" w="2327656">
                <a:moveTo>
                  <a:pt x="0" y="0"/>
                </a:moveTo>
                <a:lnTo>
                  <a:pt x="2327656" y="0"/>
                </a:lnTo>
                <a:lnTo>
                  <a:pt x="2327656" y="2327656"/>
                </a:lnTo>
                <a:lnTo>
                  <a:pt x="0" y="2327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mmagine che contiene Elementi grafici, Carattere, grafica, logo  Il contenuto generato dall'IA potrebbe non essere corretto." id="186" name="Google Shape;186;p6"/>
          <p:cNvSpPr/>
          <p:nvPr/>
        </p:nvSpPr>
        <p:spPr>
          <a:xfrm>
            <a:off x="9197311" y="2017357"/>
            <a:ext cx="1660494" cy="1660494"/>
          </a:xfrm>
          <a:custGeom>
            <a:rect b="b" l="l" r="r" t="t"/>
            <a:pathLst>
              <a:path extrusionOk="0" h="2213991" w="2213991">
                <a:moveTo>
                  <a:pt x="0" y="0"/>
                </a:moveTo>
                <a:lnTo>
                  <a:pt x="2213991" y="0"/>
                </a:lnTo>
                <a:lnTo>
                  <a:pt x="2213991" y="2213991"/>
                </a:lnTo>
                <a:lnTo>
                  <a:pt x="0" y="2213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mmagine che contiene Carattere, Elementi grafici, logo, simbolo  Il contenuto generato dall'IA potrebbe non essere corretto." id="187" name="Google Shape;187;p6"/>
          <p:cNvSpPr/>
          <p:nvPr/>
        </p:nvSpPr>
        <p:spPr>
          <a:xfrm>
            <a:off x="5967498" y="3508858"/>
            <a:ext cx="1592770" cy="1592771"/>
          </a:xfrm>
          <a:custGeom>
            <a:rect b="b" l="l" r="r" t="t"/>
            <a:pathLst>
              <a:path extrusionOk="0" h="2123694" w="2123694">
                <a:moveTo>
                  <a:pt x="0" y="0"/>
                </a:moveTo>
                <a:lnTo>
                  <a:pt x="2123694" y="0"/>
                </a:lnTo>
                <a:lnTo>
                  <a:pt x="2123694" y="2123694"/>
                </a:lnTo>
                <a:lnTo>
                  <a:pt x="0" y="2123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mmagine che contiene barca, aria aperta, grande, natante" id="196" name="Google Shape;196;p7"/>
          <p:cNvSpPr/>
          <p:nvPr/>
        </p:nvSpPr>
        <p:spPr>
          <a:xfrm>
            <a:off x="12621025" y="2187492"/>
            <a:ext cx="4127278" cy="2317719"/>
          </a:xfrm>
          <a:custGeom>
            <a:rect b="b" l="l" r="r" t="t"/>
            <a:pathLst>
              <a:path extrusionOk="0" h="3090291" w="5503037">
                <a:moveTo>
                  <a:pt x="0" y="0"/>
                </a:moveTo>
                <a:lnTo>
                  <a:pt x="5503037" y="0"/>
                </a:lnTo>
                <a:lnTo>
                  <a:pt x="5503037" y="3090291"/>
                </a:lnTo>
                <a:lnTo>
                  <a:pt x="0" y="309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9" r="-87" t="0"/>
            </a:stretch>
          </a:blipFill>
          <a:ln>
            <a:noFill/>
          </a:ln>
        </p:spPr>
      </p:sp>
      <p:sp>
        <p:nvSpPr>
          <p:cNvPr id="197" name="Google Shape;197;p7"/>
          <p:cNvSpPr/>
          <p:nvPr/>
        </p:nvSpPr>
        <p:spPr>
          <a:xfrm>
            <a:off x="-1692773" y="-5693273"/>
            <a:ext cx="21673565" cy="21673565"/>
          </a:xfrm>
          <a:custGeom>
            <a:rect b="b" l="l" r="r" t="t"/>
            <a:pathLst>
              <a:path extrusionOk="0" h="28898087" w="28898087">
                <a:moveTo>
                  <a:pt x="0" y="14449044"/>
                </a:moveTo>
                <a:cubicBezTo>
                  <a:pt x="0" y="6468999"/>
                  <a:pt x="6468999" y="0"/>
                  <a:pt x="14449044" y="0"/>
                </a:cubicBezTo>
                <a:lnTo>
                  <a:pt x="14449044" y="127000"/>
                </a:lnTo>
                <a:lnTo>
                  <a:pt x="14449044" y="0"/>
                </a:lnTo>
                <a:cubicBezTo>
                  <a:pt x="22428963" y="0"/>
                  <a:pt x="28898087" y="6468999"/>
                  <a:pt x="28898087" y="14449044"/>
                </a:cubicBezTo>
                <a:cubicBezTo>
                  <a:pt x="28898087" y="22429088"/>
                  <a:pt x="22428963" y="28898087"/>
                  <a:pt x="14449044" y="28898087"/>
                </a:cubicBezTo>
                <a:lnTo>
                  <a:pt x="14449044" y="28771087"/>
                </a:lnTo>
                <a:lnTo>
                  <a:pt x="14449044" y="28898087"/>
                </a:lnTo>
                <a:cubicBezTo>
                  <a:pt x="6468999" y="28898087"/>
                  <a:pt x="0" y="22428963"/>
                  <a:pt x="0" y="14449044"/>
                </a:cubicBezTo>
                <a:lnTo>
                  <a:pt x="127000" y="14449044"/>
                </a:lnTo>
                <a:lnTo>
                  <a:pt x="233934" y="14517497"/>
                </a:lnTo>
                <a:cubicBezTo>
                  <a:pt x="203454" y="14564995"/>
                  <a:pt x="145415" y="14586711"/>
                  <a:pt x="91313" y="14570836"/>
                </a:cubicBezTo>
                <a:cubicBezTo>
                  <a:pt x="37211" y="14554961"/>
                  <a:pt x="0" y="14505432"/>
                  <a:pt x="0" y="14449044"/>
                </a:cubicBezTo>
                <a:moveTo>
                  <a:pt x="254000" y="14449044"/>
                </a:moveTo>
                <a:lnTo>
                  <a:pt x="127000" y="14449044"/>
                </a:lnTo>
                <a:lnTo>
                  <a:pt x="20066" y="14380590"/>
                </a:lnTo>
                <a:cubicBezTo>
                  <a:pt x="50546" y="14333093"/>
                  <a:pt x="108585" y="14311376"/>
                  <a:pt x="162687" y="14327251"/>
                </a:cubicBezTo>
                <a:cubicBezTo>
                  <a:pt x="216789" y="14343126"/>
                  <a:pt x="254000" y="14392783"/>
                  <a:pt x="254000" y="14449171"/>
                </a:cubicBezTo>
                <a:cubicBezTo>
                  <a:pt x="254000" y="22288880"/>
                  <a:pt x="6609334" y="28644214"/>
                  <a:pt x="14449044" y="28644214"/>
                </a:cubicBezTo>
                <a:cubicBezTo>
                  <a:pt x="22288753" y="28644214"/>
                  <a:pt x="28644087" y="22288880"/>
                  <a:pt x="28644087" y="14449171"/>
                </a:cubicBezTo>
                <a:lnTo>
                  <a:pt x="28771087" y="14449171"/>
                </a:lnTo>
                <a:lnTo>
                  <a:pt x="28644087" y="14449171"/>
                </a:lnTo>
                <a:cubicBezTo>
                  <a:pt x="28644087" y="6609334"/>
                  <a:pt x="22288754" y="254000"/>
                  <a:pt x="14449044" y="254000"/>
                </a:cubicBezTo>
                <a:lnTo>
                  <a:pt x="14449044" y="127000"/>
                </a:lnTo>
                <a:lnTo>
                  <a:pt x="14449044" y="254000"/>
                </a:lnTo>
                <a:cubicBezTo>
                  <a:pt x="6609334" y="254000"/>
                  <a:pt x="254000" y="6609334"/>
                  <a:pt x="254000" y="144490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1667456" y="344434"/>
            <a:ext cx="14953078" cy="144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Industries we serve</a:t>
            </a:r>
            <a:endParaRPr/>
          </a:p>
        </p:txBody>
      </p:sp>
      <p:sp>
        <p:nvSpPr>
          <p:cNvPr descr="A black and white sign with white text  AI-generated content may be incorrect." id="199" name="Google Shape;199;p7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200" name="Google Shape;200;p7"/>
          <p:cNvSpPr/>
          <p:nvPr/>
        </p:nvSpPr>
        <p:spPr>
          <a:xfrm>
            <a:off x="5883754" y="6457969"/>
            <a:ext cx="2409825" cy="2207419"/>
          </a:xfrm>
          <a:custGeom>
            <a:rect b="b" l="l" r="r" t="t"/>
            <a:pathLst>
              <a:path extrusionOk="0" h="2207419" w="2409825">
                <a:moveTo>
                  <a:pt x="0" y="0"/>
                </a:moveTo>
                <a:lnTo>
                  <a:pt x="2409825" y="0"/>
                </a:lnTo>
                <a:lnTo>
                  <a:pt x="2409825" y="2207419"/>
                </a:lnTo>
                <a:lnTo>
                  <a:pt x="0" y="2207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>
            <a:off x="5355736" y="6847684"/>
            <a:ext cx="1585913" cy="1585913"/>
          </a:xfrm>
          <a:custGeom>
            <a:rect b="b" l="l" r="r" t="t"/>
            <a:pathLst>
              <a:path extrusionOk="0" h="2114550" w="2114550">
                <a:moveTo>
                  <a:pt x="0" y="1057275"/>
                </a:moveTo>
                <a:cubicBezTo>
                  <a:pt x="0" y="473329"/>
                  <a:pt x="473329" y="0"/>
                  <a:pt x="1057275" y="0"/>
                </a:cubicBezTo>
                <a:cubicBezTo>
                  <a:pt x="1641221" y="0"/>
                  <a:pt x="2114550" y="473329"/>
                  <a:pt x="2114550" y="1057275"/>
                </a:cubicBezTo>
                <a:cubicBezTo>
                  <a:pt x="2114550" y="1641221"/>
                  <a:pt x="1641221" y="2114550"/>
                  <a:pt x="1057275" y="2114550"/>
                </a:cubicBezTo>
                <a:cubicBezTo>
                  <a:pt x="473329" y="2114550"/>
                  <a:pt x="0" y="1641221"/>
                  <a:pt x="0" y="1057275"/>
                </a:cubicBezTo>
                <a:close/>
              </a:path>
            </a:pathLst>
          </a:custGeom>
          <a:solidFill>
            <a:srgbClr val="F2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607539" y="7099478"/>
            <a:ext cx="1082421" cy="1082421"/>
          </a:xfrm>
          <a:custGeom>
            <a:rect b="b" l="l" r="r" t="t"/>
            <a:pathLst>
              <a:path extrusionOk="0" h="1443228" w="1443228">
                <a:moveTo>
                  <a:pt x="0" y="721614"/>
                </a:moveTo>
                <a:cubicBezTo>
                  <a:pt x="0" y="323088"/>
                  <a:pt x="323088" y="0"/>
                  <a:pt x="721614" y="0"/>
                </a:cubicBezTo>
                <a:cubicBezTo>
                  <a:pt x="1120140" y="0"/>
                  <a:pt x="1443228" y="323088"/>
                  <a:pt x="1443228" y="721614"/>
                </a:cubicBezTo>
                <a:cubicBezTo>
                  <a:pt x="1443228" y="1120140"/>
                  <a:pt x="1120140" y="1443228"/>
                  <a:pt x="721614" y="1443228"/>
                </a:cubicBezTo>
                <a:cubicBezTo>
                  <a:pt x="323088" y="1443228"/>
                  <a:pt x="0" y="1120140"/>
                  <a:pt x="0" y="721614"/>
                </a:cubicBezTo>
                <a:close/>
              </a:path>
            </a:pathLst>
          </a:custGeom>
          <a:solidFill>
            <a:srgbClr val="7474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5486629" y="7257336"/>
            <a:ext cx="1324185" cy="77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366104" y="7476754"/>
            <a:ext cx="3866302" cy="47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Automotive &amp; Mobility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877163" y="4124344"/>
            <a:ext cx="2409825" cy="2207419"/>
          </a:xfrm>
          <a:custGeom>
            <a:rect b="b" l="l" r="r" t="t"/>
            <a:pathLst>
              <a:path extrusionOk="0" h="2207419" w="2409825">
                <a:moveTo>
                  <a:pt x="0" y="0"/>
                </a:moveTo>
                <a:lnTo>
                  <a:pt x="2409825" y="0"/>
                </a:lnTo>
                <a:lnTo>
                  <a:pt x="2409825" y="2207419"/>
                </a:lnTo>
                <a:lnTo>
                  <a:pt x="0" y="2207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7"/>
          <p:cNvSpPr/>
          <p:nvPr/>
        </p:nvSpPr>
        <p:spPr>
          <a:xfrm>
            <a:off x="5355736" y="4286040"/>
            <a:ext cx="1585913" cy="1585913"/>
          </a:xfrm>
          <a:custGeom>
            <a:rect b="b" l="l" r="r" t="t"/>
            <a:pathLst>
              <a:path extrusionOk="0" h="2114550" w="2114550">
                <a:moveTo>
                  <a:pt x="0" y="1057275"/>
                </a:moveTo>
                <a:cubicBezTo>
                  <a:pt x="0" y="473329"/>
                  <a:pt x="473329" y="0"/>
                  <a:pt x="1057275" y="0"/>
                </a:cubicBezTo>
                <a:cubicBezTo>
                  <a:pt x="1641221" y="0"/>
                  <a:pt x="2114550" y="473329"/>
                  <a:pt x="2114550" y="1057275"/>
                </a:cubicBezTo>
                <a:cubicBezTo>
                  <a:pt x="2114550" y="1641221"/>
                  <a:pt x="1641221" y="2114550"/>
                  <a:pt x="1057275" y="2114550"/>
                </a:cubicBezTo>
                <a:cubicBezTo>
                  <a:pt x="473329" y="2114550"/>
                  <a:pt x="0" y="1641221"/>
                  <a:pt x="0" y="1057275"/>
                </a:cubicBezTo>
                <a:close/>
              </a:path>
            </a:pathLst>
          </a:custGeom>
          <a:solidFill>
            <a:srgbClr val="FF9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607539" y="4537834"/>
            <a:ext cx="1082421" cy="1082421"/>
          </a:xfrm>
          <a:custGeom>
            <a:rect b="b" l="l" r="r" t="t"/>
            <a:pathLst>
              <a:path extrusionOk="0" h="1443228" w="1443228">
                <a:moveTo>
                  <a:pt x="0" y="721614"/>
                </a:moveTo>
                <a:cubicBezTo>
                  <a:pt x="0" y="323088"/>
                  <a:pt x="323088" y="0"/>
                  <a:pt x="721614" y="0"/>
                </a:cubicBezTo>
                <a:cubicBezTo>
                  <a:pt x="1120140" y="0"/>
                  <a:pt x="1443228" y="323088"/>
                  <a:pt x="1443228" y="721614"/>
                </a:cubicBezTo>
                <a:cubicBezTo>
                  <a:pt x="1443228" y="1120140"/>
                  <a:pt x="1120140" y="1443228"/>
                  <a:pt x="721614" y="1443228"/>
                </a:cubicBezTo>
                <a:cubicBezTo>
                  <a:pt x="323088" y="1443228"/>
                  <a:pt x="0" y="1120140"/>
                  <a:pt x="0" y="721614"/>
                </a:cubicBezTo>
                <a:close/>
              </a:path>
            </a:pathLst>
          </a:custGeom>
          <a:solidFill>
            <a:srgbClr val="7474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5447176" y="4693663"/>
            <a:ext cx="1324185" cy="77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3344068" y="4591107"/>
            <a:ext cx="3866302" cy="47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Aerospace &amp; Defense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898167" y="3103331"/>
            <a:ext cx="2205038" cy="2412206"/>
          </a:xfrm>
          <a:custGeom>
            <a:rect b="b" l="l" r="r" t="t"/>
            <a:pathLst>
              <a:path extrusionOk="0" h="2412206" w="2205038">
                <a:moveTo>
                  <a:pt x="0" y="0"/>
                </a:moveTo>
                <a:lnTo>
                  <a:pt x="2205037" y="0"/>
                </a:lnTo>
                <a:lnTo>
                  <a:pt x="2205037" y="2412206"/>
                </a:lnTo>
                <a:lnTo>
                  <a:pt x="0" y="2412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/>
          <p:nvPr/>
        </p:nvSpPr>
        <p:spPr>
          <a:xfrm>
            <a:off x="7128672" y="2669715"/>
            <a:ext cx="1585913" cy="1585913"/>
          </a:xfrm>
          <a:custGeom>
            <a:rect b="b" l="l" r="r" t="t"/>
            <a:pathLst>
              <a:path extrusionOk="0" h="2114550" w="2114550">
                <a:moveTo>
                  <a:pt x="0" y="1057275"/>
                </a:moveTo>
                <a:cubicBezTo>
                  <a:pt x="0" y="473329"/>
                  <a:pt x="473329" y="0"/>
                  <a:pt x="1057275" y="0"/>
                </a:cubicBezTo>
                <a:cubicBezTo>
                  <a:pt x="1641221" y="0"/>
                  <a:pt x="2114550" y="473329"/>
                  <a:pt x="2114550" y="1057275"/>
                </a:cubicBezTo>
                <a:cubicBezTo>
                  <a:pt x="2114550" y="1641221"/>
                  <a:pt x="1641221" y="2114550"/>
                  <a:pt x="1057275" y="2114550"/>
                </a:cubicBezTo>
                <a:cubicBezTo>
                  <a:pt x="473329" y="2114550"/>
                  <a:pt x="0" y="1641221"/>
                  <a:pt x="0" y="1057275"/>
                </a:cubicBezTo>
                <a:close/>
              </a:path>
            </a:pathLst>
          </a:custGeom>
          <a:solidFill>
            <a:srgbClr val="FFC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7380465" y="2921508"/>
            <a:ext cx="1082421" cy="1082421"/>
          </a:xfrm>
          <a:custGeom>
            <a:rect b="b" l="l" r="r" t="t"/>
            <a:pathLst>
              <a:path extrusionOk="0" h="1443228" w="1443228">
                <a:moveTo>
                  <a:pt x="0" y="721614"/>
                </a:moveTo>
                <a:cubicBezTo>
                  <a:pt x="0" y="323088"/>
                  <a:pt x="323088" y="0"/>
                  <a:pt x="721614" y="0"/>
                </a:cubicBezTo>
                <a:cubicBezTo>
                  <a:pt x="1120140" y="0"/>
                  <a:pt x="1443228" y="323088"/>
                  <a:pt x="1443228" y="721614"/>
                </a:cubicBezTo>
                <a:cubicBezTo>
                  <a:pt x="1443228" y="1120140"/>
                  <a:pt x="1120140" y="1443228"/>
                  <a:pt x="721614" y="1443228"/>
                </a:cubicBezTo>
                <a:cubicBezTo>
                  <a:pt x="323088" y="1443228"/>
                  <a:pt x="0" y="1120140"/>
                  <a:pt x="0" y="721614"/>
                </a:cubicBezTo>
                <a:close/>
              </a:path>
            </a:pathLst>
          </a:custGeom>
          <a:solidFill>
            <a:srgbClr val="7474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7259564" y="3077108"/>
            <a:ext cx="1324185" cy="77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2930509" y="1998364"/>
            <a:ext cx="4741393" cy="47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Energy &amp; Power Generation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9229411" y="3103331"/>
            <a:ext cx="2205038" cy="2412206"/>
          </a:xfrm>
          <a:custGeom>
            <a:rect b="b" l="l" r="r" t="t"/>
            <a:pathLst>
              <a:path extrusionOk="0" h="2412206" w="2205038">
                <a:moveTo>
                  <a:pt x="0" y="0"/>
                </a:moveTo>
                <a:lnTo>
                  <a:pt x="2205037" y="0"/>
                </a:lnTo>
                <a:lnTo>
                  <a:pt x="2205037" y="2412206"/>
                </a:lnTo>
                <a:lnTo>
                  <a:pt x="0" y="2412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7"/>
          <p:cNvSpPr/>
          <p:nvPr/>
        </p:nvSpPr>
        <p:spPr>
          <a:xfrm>
            <a:off x="9625927" y="2669715"/>
            <a:ext cx="1585913" cy="1585913"/>
          </a:xfrm>
          <a:custGeom>
            <a:rect b="b" l="l" r="r" t="t"/>
            <a:pathLst>
              <a:path extrusionOk="0" h="2114550" w="2114550">
                <a:moveTo>
                  <a:pt x="0" y="1057275"/>
                </a:moveTo>
                <a:cubicBezTo>
                  <a:pt x="0" y="473329"/>
                  <a:pt x="473329" y="0"/>
                  <a:pt x="1057275" y="0"/>
                </a:cubicBezTo>
                <a:cubicBezTo>
                  <a:pt x="1641221" y="0"/>
                  <a:pt x="2114550" y="473329"/>
                  <a:pt x="2114550" y="1057275"/>
                </a:cubicBezTo>
                <a:cubicBezTo>
                  <a:pt x="2114550" y="1641221"/>
                  <a:pt x="1641221" y="2114550"/>
                  <a:pt x="1057275" y="2114550"/>
                </a:cubicBezTo>
                <a:cubicBezTo>
                  <a:pt x="473329" y="2114550"/>
                  <a:pt x="0" y="1641221"/>
                  <a:pt x="0" y="1057275"/>
                </a:cubicBezTo>
                <a:close/>
              </a:path>
            </a:pathLst>
          </a:custGeom>
          <a:solidFill>
            <a:srgbClr val="86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9877730" y="2921508"/>
            <a:ext cx="1082421" cy="1082421"/>
          </a:xfrm>
          <a:custGeom>
            <a:rect b="b" l="l" r="r" t="t"/>
            <a:pathLst>
              <a:path extrusionOk="0" h="1443228" w="1443228">
                <a:moveTo>
                  <a:pt x="0" y="721614"/>
                </a:moveTo>
                <a:cubicBezTo>
                  <a:pt x="0" y="323088"/>
                  <a:pt x="323088" y="0"/>
                  <a:pt x="721614" y="0"/>
                </a:cubicBezTo>
                <a:cubicBezTo>
                  <a:pt x="1120140" y="0"/>
                  <a:pt x="1443228" y="323088"/>
                  <a:pt x="1443228" y="721614"/>
                </a:cubicBezTo>
                <a:cubicBezTo>
                  <a:pt x="1443228" y="1120140"/>
                  <a:pt x="1120140" y="1443228"/>
                  <a:pt x="721614" y="1443228"/>
                </a:cubicBezTo>
                <a:cubicBezTo>
                  <a:pt x="323088" y="1443228"/>
                  <a:pt x="0" y="1120140"/>
                  <a:pt x="0" y="721614"/>
                </a:cubicBezTo>
                <a:close/>
              </a:path>
            </a:pathLst>
          </a:custGeom>
          <a:solidFill>
            <a:srgbClr val="7474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9756743" y="3032065"/>
            <a:ext cx="1324185" cy="77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10671286" y="1944643"/>
            <a:ext cx="5167303" cy="47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Shipbuilding &amp; Heavy Industry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0045627" y="4117743"/>
            <a:ext cx="2409825" cy="2207419"/>
          </a:xfrm>
          <a:custGeom>
            <a:rect b="b" l="l" r="r" t="t"/>
            <a:pathLst>
              <a:path extrusionOk="0" h="2207419" w="2409825">
                <a:moveTo>
                  <a:pt x="0" y="0"/>
                </a:moveTo>
                <a:lnTo>
                  <a:pt x="2409825" y="0"/>
                </a:lnTo>
                <a:lnTo>
                  <a:pt x="2409825" y="2207419"/>
                </a:lnTo>
                <a:lnTo>
                  <a:pt x="0" y="2207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>
            <a:off x="11391033" y="4286040"/>
            <a:ext cx="1585913" cy="1585913"/>
          </a:xfrm>
          <a:custGeom>
            <a:rect b="b" l="l" r="r" t="t"/>
            <a:pathLst>
              <a:path extrusionOk="0" h="2114550" w="2114550">
                <a:moveTo>
                  <a:pt x="0" y="1057275"/>
                </a:moveTo>
                <a:cubicBezTo>
                  <a:pt x="0" y="473329"/>
                  <a:pt x="473329" y="0"/>
                  <a:pt x="1057275" y="0"/>
                </a:cubicBezTo>
                <a:cubicBezTo>
                  <a:pt x="1641221" y="0"/>
                  <a:pt x="2114550" y="473329"/>
                  <a:pt x="2114550" y="1057275"/>
                </a:cubicBezTo>
                <a:cubicBezTo>
                  <a:pt x="2114550" y="1641221"/>
                  <a:pt x="1641221" y="2114550"/>
                  <a:pt x="1057275" y="2114550"/>
                </a:cubicBezTo>
                <a:cubicBezTo>
                  <a:pt x="473329" y="2114550"/>
                  <a:pt x="0" y="1641221"/>
                  <a:pt x="0" y="1057275"/>
                </a:cubicBezTo>
                <a:close/>
              </a:path>
            </a:pathLst>
          </a:custGeom>
          <a:solidFill>
            <a:srgbClr val="00A0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11642827" y="4537834"/>
            <a:ext cx="1082421" cy="1082421"/>
          </a:xfrm>
          <a:custGeom>
            <a:rect b="b" l="l" r="r" t="t"/>
            <a:pathLst>
              <a:path extrusionOk="0" h="1443228" w="1443228">
                <a:moveTo>
                  <a:pt x="0" y="721614"/>
                </a:moveTo>
                <a:cubicBezTo>
                  <a:pt x="0" y="323088"/>
                  <a:pt x="323088" y="0"/>
                  <a:pt x="721614" y="0"/>
                </a:cubicBezTo>
                <a:cubicBezTo>
                  <a:pt x="1120140" y="0"/>
                  <a:pt x="1443228" y="323088"/>
                  <a:pt x="1443228" y="721614"/>
                </a:cubicBezTo>
                <a:cubicBezTo>
                  <a:pt x="1443228" y="1120140"/>
                  <a:pt x="1120140" y="1443228"/>
                  <a:pt x="721614" y="1443228"/>
                </a:cubicBezTo>
                <a:cubicBezTo>
                  <a:pt x="323088" y="1443228"/>
                  <a:pt x="0" y="1120140"/>
                  <a:pt x="0" y="721614"/>
                </a:cubicBezTo>
                <a:close/>
              </a:path>
            </a:pathLst>
          </a:custGeom>
          <a:solidFill>
            <a:srgbClr val="7474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11506838" y="4693663"/>
            <a:ext cx="1324185" cy="77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1343463" y="4868104"/>
            <a:ext cx="3866302" cy="47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Rail &amp; Infrastructure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10045627" y="6457969"/>
            <a:ext cx="2409825" cy="2207419"/>
          </a:xfrm>
          <a:custGeom>
            <a:rect b="b" l="l" r="r" t="t"/>
            <a:pathLst>
              <a:path extrusionOk="0" h="2207419" w="2409825">
                <a:moveTo>
                  <a:pt x="0" y="0"/>
                </a:moveTo>
                <a:lnTo>
                  <a:pt x="2409825" y="0"/>
                </a:lnTo>
                <a:lnTo>
                  <a:pt x="2409825" y="2207419"/>
                </a:lnTo>
                <a:lnTo>
                  <a:pt x="0" y="2207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7"/>
          <p:cNvSpPr/>
          <p:nvPr/>
        </p:nvSpPr>
        <p:spPr>
          <a:xfrm>
            <a:off x="11269008" y="6847684"/>
            <a:ext cx="1585913" cy="1585913"/>
          </a:xfrm>
          <a:custGeom>
            <a:rect b="b" l="l" r="r" t="t"/>
            <a:pathLst>
              <a:path extrusionOk="0" h="2114550" w="2114550">
                <a:moveTo>
                  <a:pt x="0" y="1057275"/>
                </a:moveTo>
                <a:cubicBezTo>
                  <a:pt x="0" y="473329"/>
                  <a:pt x="473329" y="0"/>
                  <a:pt x="1057275" y="0"/>
                </a:cubicBezTo>
                <a:cubicBezTo>
                  <a:pt x="1641221" y="0"/>
                  <a:pt x="2114550" y="473329"/>
                  <a:pt x="2114550" y="1057275"/>
                </a:cubicBezTo>
                <a:cubicBezTo>
                  <a:pt x="2114550" y="1641221"/>
                  <a:pt x="1641221" y="2114550"/>
                  <a:pt x="1057275" y="2114550"/>
                </a:cubicBezTo>
                <a:cubicBezTo>
                  <a:pt x="473329" y="2114550"/>
                  <a:pt x="0" y="1641221"/>
                  <a:pt x="0" y="1057275"/>
                </a:cubicBezTo>
                <a:close/>
              </a:path>
            </a:pathLst>
          </a:custGeom>
          <a:solidFill>
            <a:srgbClr val="006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11520811" y="7099478"/>
            <a:ext cx="1082421" cy="1082421"/>
          </a:xfrm>
          <a:custGeom>
            <a:rect b="b" l="l" r="r" t="t"/>
            <a:pathLst>
              <a:path extrusionOk="0" h="1443228" w="1443228">
                <a:moveTo>
                  <a:pt x="0" y="721614"/>
                </a:moveTo>
                <a:cubicBezTo>
                  <a:pt x="0" y="323088"/>
                  <a:pt x="323088" y="0"/>
                  <a:pt x="721614" y="0"/>
                </a:cubicBezTo>
                <a:cubicBezTo>
                  <a:pt x="1120140" y="0"/>
                  <a:pt x="1443228" y="323088"/>
                  <a:pt x="1443228" y="721614"/>
                </a:cubicBezTo>
                <a:cubicBezTo>
                  <a:pt x="1443228" y="1120140"/>
                  <a:pt x="1120140" y="1443228"/>
                  <a:pt x="721614" y="1443228"/>
                </a:cubicBezTo>
                <a:cubicBezTo>
                  <a:pt x="323088" y="1443228"/>
                  <a:pt x="0" y="1120140"/>
                  <a:pt x="0" y="721614"/>
                </a:cubicBezTo>
                <a:close/>
              </a:path>
            </a:pathLst>
          </a:custGeom>
          <a:solidFill>
            <a:srgbClr val="7474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1399901" y="7257326"/>
            <a:ext cx="1324185" cy="77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12906966" y="7203405"/>
            <a:ext cx="4472569" cy="88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Additive Manufacturing &amp; Advanced Fabrication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1755238" y="7781020"/>
            <a:ext cx="3561017" cy="2357819"/>
          </a:xfrm>
          <a:custGeom>
            <a:rect b="b" l="l" r="r" t="t"/>
            <a:pathLst>
              <a:path extrusionOk="0" h="3143758" w="4748022">
                <a:moveTo>
                  <a:pt x="0" y="0"/>
                </a:moveTo>
                <a:lnTo>
                  <a:pt x="4748022" y="0"/>
                </a:lnTo>
                <a:lnTo>
                  <a:pt x="4748022" y="3143758"/>
                </a:lnTo>
                <a:lnTo>
                  <a:pt x="0" y="3143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-321" t="0"/>
            </a:stretch>
          </a:blipFill>
          <a:ln>
            <a:noFill/>
          </a:ln>
        </p:spPr>
      </p:sp>
      <p:sp>
        <p:nvSpPr>
          <p:cNvPr descr="Immagine che contiene trasporto, treno, veicolo, trasporto pubblico" id="231" name="Google Shape;231;p7"/>
          <p:cNvSpPr/>
          <p:nvPr/>
        </p:nvSpPr>
        <p:spPr>
          <a:xfrm>
            <a:off x="1160031" y="4889325"/>
            <a:ext cx="4325208" cy="2876360"/>
          </a:xfrm>
          <a:custGeom>
            <a:rect b="b" l="l" r="r" t="t"/>
            <a:pathLst>
              <a:path extrusionOk="0" h="3835146" w="5766943">
                <a:moveTo>
                  <a:pt x="0" y="0"/>
                </a:moveTo>
                <a:lnTo>
                  <a:pt x="5766943" y="0"/>
                </a:lnTo>
                <a:lnTo>
                  <a:pt x="5766943" y="3835146"/>
                </a:lnTo>
                <a:lnTo>
                  <a:pt x="0" y="383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124" r="-124" t="0"/>
            </a:stretch>
          </a:blipFill>
          <a:ln>
            <a:noFill/>
          </a:ln>
        </p:spPr>
      </p:sp>
      <p:sp>
        <p:nvSpPr>
          <p:cNvPr descr="Immagine che contiene cilindro, luce, razzo" id="232" name="Google Shape;232;p7"/>
          <p:cNvSpPr/>
          <p:nvPr/>
        </p:nvSpPr>
        <p:spPr>
          <a:xfrm>
            <a:off x="1665075" y="1801054"/>
            <a:ext cx="4181379" cy="3200115"/>
          </a:xfrm>
          <a:custGeom>
            <a:rect b="b" l="l" r="r" t="t"/>
            <a:pathLst>
              <a:path extrusionOk="0" h="4266819" w="5575173">
                <a:moveTo>
                  <a:pt x="0" y="0"/>
                </a:moveTo>
                <a:lnTo>
                  <a:pt x="5575173" y="0"/>
                </a:lnTo>
                <a:lnTo>
                  <a:pt x="5575173" y="4266819"/>
                </a:lnTo>
                <a:lnTo>
                  <a:pt x="0" y="4266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-52" r="-50" t="0"/>
            </a:stretch>
          </a:blipFill>
          <a:ln>
            <a:noFill/>
          </a:ln>
        </p:spPr>
      </p:sp>
      <p:sp>
        <p:nvSpPr>
          <p:cNvPr descr="Immagine che contiene pialla/aereo" id="233" name="Google Shape;233;p7"/>
          <p:cNvSpPr/>
          <p:nvPr/>
        </p:nvSpPr>
        <p:spPr>
          <a:xfrm>
            <a:off x="12802772" y="4544930"/>
            <a:ext cx="4284821" cy="2482024"/>
          </a:xfrm>
          <a:custGeom>
            <a:rect b="b" l="l" r="r" t="t"/>
            <a:pathLst>
              <a:path extrusionOk="0" h="3309366" w="5713095">
                <a:moveTo>
                  <a:pt x="0" y="0"/>
                </a:moveTo>
                <a:lnTo>
                  <a:pt x="5713095" y="0"/>
                </a:lnTo>
                <a:lnTo>
                  <a:pt x="5713095" y="3309366"/>
                </a:lnTo>
                <a:lnTo>
                  <a:pt x="0" y="3309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-63" l="0" r="0" t="-62"/>
            </a:stretch>
          </a:blipFill>
          <a:ln>
            <a:noFill/>
          </a:ln>
        </p:spPr>
      </p:sp>
      <p:sp>
        <p:nvSpPr>
          <p:cNvPr descr="Immagine che contiene interno  Il contenuto generato dall'IA potrebbe non essere corretto." id="234" name="Google Shape;234;p7"/>
          <p:cNvSpPr/>
          <p:nvPr/>
        </p:nvSpPr>
        <p:spPr>
          <a:xfrm>
            <a:off x="13144614" y="8079248"/>
            <a:ext cx="3711417" cy="2059591"/>
          </a:xfrm>
          <a:custGeom>
            <a:rect b="b" l="l" r="r" t="t"/>
            <a:pathLst>
              <a:path extrusionOk="0" h="2746121" w="4948555">
                <a:moveTo>
                  <a:pt x="0" y="0"/>
                </a:moveTo>
                <a:lnTo>
                  <a:pt x="4948555" y="0"/>
                </a:lnTo>
                <a:lnTo>
                  <a:pt x="4948555" y="2746121"/>
                </a:lnTo>
                <a:lnTo>
                  <a:pt x="0" y="27461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-196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ack and white sign with white text  AI-generated content may be incorrect." id="239" name="Google Shape;239;p8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240" name="Google Shape;240;p8"/>
          <p:cNvSpPr txBox="1"/>
          <p:nvPr/>
        </p:nvSpPr>
        <p:spPr>
          <a:xfrm>
            <a:off x="3513001" y="414427"/>
            <a:ext cx="1126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Hackathon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5888397" y="1799827"/>
            <a:ext cx="651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Welcome to the Challenge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707348" y="3738563"/>
            <a:ext cx="16694700" cy="24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3" lvl="1" marL="755646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reproducible dataset and split</a:t>
            </a:r>
            <a:endParaRPr/>
          </a:p>
          <a:p>
            <a:pPr indent="-377823" lvl="1" marL="755646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binary defect detector with calibrated confidence</a:t>
            </a:r>
            <a:endParaRPr/>
          </a:p>
          <a:p>
            <a:pPr indent="-377823" lvl="1" marL="755646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defect type classifier</a:t>
            </a:r>
            <a:endParaRPr/>
          </a:p>
          <a:p>
            <a:pPr indent="-377823" lvl="1" marL="755646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 integrated evaluation pipeline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1028700" y="2894188"/>
            <a:ext cx="1011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What You’re About to Build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707354" y="7377391"/>
            <a:ext cx="10114687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3" lvl="1" marL="755646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Robust methodology</a:t>
            </a:r>
            <a:endParaRPr/>
          </a:p>
          <a:p>
            <a:pPr indent="-377823" lvl="1" marL="755646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Confidence quality</a:t>
            </a:r>
            <a:endParaRPr/>
          </a:p>
          <a:p>
            <a:pPr indent="-377823" lvl="1" marL="755646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Reproducibility</a:t>
            </a:r>
            <a:endParaRPr/>
          </a:p>
          <a:p>
            <a:pPr indent="-377823" lvl="1" marL="755646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al"/>
              <a:buChar char="•"/>
            </a:pPr>
            <a:r>
              <a:rPr b="1" i="0" lang="en-US" sz="34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Measurable performance</a:t>
            </a:r>
            <a:endParaRPr/>
          </a:p>
        </p:txBody>
      </p:sp>
      <p:sp>
        <p:nvSpPr>
          <p:cNvPr id="245" name="Google Shape;245;p8"/>
          <p:cNvSpPr txBox="1"/>
          <p:nvPr/>
        </p:nvSpPr>
        <p:spPr>
          <a:xfrm>
            <a:off x="1028700" y="6536766"/>
            <a:ext cx="4138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FFC000"/>
                </a:solidFill>
                <a:latin typeface="Raleway"/>
                <a:ea typeface="Raleway"/>
                <a:cs typeface="Raleway"/>
                <a:sym typeface="Raleway"/>
              </a:rPr>
              <a:t>What Matters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ack and white sign with white text  AI-generated content may be incorrect." id="250" name="Google Shape;250;p9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251" name="Google Shape;251;p9"/>
          <p:cNvSpPr txBox="1"/>
          <p:nvPr/>
        </p:nvSpPr>
        <p:spPr>
          <a:xfrm>
            <a:off x="3512976" y="333375"/>
            <a:ext cx="11262047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Hackathon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0" y="2464436"/>
            <a:ext cx="8712688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The Technical Assignment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11007744" y="2464436"/>
            <a:ext cx="4889971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What We Evaluate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713298" y="3371850"/>
            <a:ext cx="7384173" cy="3583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1: Data preparation + dashboard + reproducible split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2: Binary defect detection with confidence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3: Defect type classification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deliverable: Integrated pipeline + evaluation + demo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11127750" y="3131825"/>
            <a:ext cx="6925800" cy="7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Metrics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F1 (defect positive)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 Macro F1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Quality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Reproducibility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 structure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Inference pipeline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Clear assumptions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Failure analysis</a:t>
            </a:r>
            <a:endParaRPr/>
          </a:p>
          <a:p>
            <a:pPr indent="-313056" lvl="1" marL="6261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Confidence explanation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4435951" y="1703925"/>
            <a:ext cx="9416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Challenge + Deliverables</a:t>
            </a:r>
            <a:endParaRPr sz="395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ack and white sign with white text  AI-generated content may be incorrect." id="261" name="Google Shape;261;p10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262" name="Google Shape;262;p10"/>
          <p:cNvSpPr txBox="1"/>
          <p:nvPr/>
        </p:nvSpPr>
        <p:spPr>
          <a:xfrm>
            <a:off x="3512976" y="596227"/>
            <a:ext cx="11262047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Hackathon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5278797" y="1893600"/>
            <a:ext cx="773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Rules – Key Highlights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871300" y="3288500"/>
            <a:ext cx="1001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Submission &amp; Evaluation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6952794" y="7064725"/>
            <a:ext cx="605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Fair Play</a:t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514659" y="4235920"/>
            <a:ext cx="11972382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79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repository must be accessible and reproducible</a:t>
            </a:r>
            <a:endParaRPr/>
          </a:p>
          <a:p>
            <a:pPr indent="-345439" lvl="1" marL="690879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Deliverables must be complete, functional, and documented</a:t>
            </a:r>
            <a:endParaRPr/>
          </a:p>
          <a:p>
            <a:pPr indent="-345439" lvl="1" marL="690879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must clearly explain methodology, assumptions, and confidence strategy</a:t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6577650" y="7896225"/>
            <a:ext cx="115788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79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plagiarism or reuse of external projects</a:t>
            </a:r>
            <a:endParaRPr/>
          </a:p>
          <a:p>
            <a:pPr indent="-345439" lvl="1" marL="690879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Open-source tools allowed if license-compliant</a:t>
            </a:r>
            <a:endParaRPr/>
          </a:p>
          <a:p>
            <a:pPr indent="-345439" lvl="1" marL="690879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Organizer reserves the right to disqualify rule violations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D3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black and white sign with white text  AI-generated content may be incorrect." id="272" name="Google Shape;272;p11"/>
          <p:cNvSpPr/>
          <p:nvPr/>
        </p:nvSpPr>
        <p:spPr>
          <a:xfrm>
            <a:off x="376323" y="414433"/>
            <a:ext cx="1751457" cy="1523523"/>
          </a:xfrm>
          <a:custGeom>
            <a:rect b="b" l="l" r="r" t="t"/>
            <a:pathLst>
              <a:path extrusionOk="0" h="2031365" w="2335276">
                <a:moveTo>
                  <a:pt x="0" y="0"/>
                </a:moveTo>
                <a:lnTo>
                  <a:pt x="2335276" y="0"/>
                </a:lnTo>
                <a:lnTo>
                  <a:pt x="2335276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273" name="Google Shape;273;p11"/>
          <p:cNvSpPr txBox="1"/>
          <p:nvPr/>
        </p:nvSpPr>
        <p:spPr>
          <a:xfrm>
            <a:off x="3512976" y="596227"/>
            <a:ext cx="11262047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Therness Hackathon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2241017" y="2645854"/>
            <a:ext cx="13805967" cy="119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Any Questions Before We Start?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5255679" y="4555783"/>
            <a:ext cx="7776642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anything is unclear about:</a:t>
            </a:r>
            <a:endParaRPr/>
          </a:p>
          <a:p>
            <a:pPr indent="0" lvl="0" marL="0" marR="0" rtl="0" algn="ctr">
              <a:lnSpc>
                <a:spcPct val="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/>
          </a:p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deliverables</a:t>
            </a:r>
            <a:endParaRPr/>
          </a:p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timeline</a:t>
            </a:r>
            <a:endParaRPr/>
          </a:p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evaluation</a:t>
            </a:r>
            <a:endParaRPr/>
          </a:p>
          <a:p>
            <a:pPr indent="0" lvl="0" marL="0" marR="0" rtl="0" algn="ctr">
              <a:lnSpc>
                <a:spcPct val="5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Now is the moment to ask.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0" y="0"/>
            <a:ext cx="200253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2"/>
          <p:cNvSpPr txBox="1"/>
          <p:nvPr/>
        </p:nvSpPr>
        <p:spPr>
          <a:xfrm>
            <a:off x="1504864" y="3931767"/>
            <a:ext cx="15446826" cy="2845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2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99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GOOD LUCK EVERYONE!</a:t>
            </a:r>
            <a:endParaRPr/>
          </a:p>
          <a:p>
            <a:pPr indent="0" lvl="0" marL="0" marR="0" rtl="0" algn="ctr">
              <a:lnSpc>
                <a:spcPct val="154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99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 you at the final pitch.</a:t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1872253" y="1028700"/>
            <a:ext cx="14543531" cy="1717644"/>
          </a:xfrm>
          <a:custGeom>
            <a:rect b="b" l="l" r="r" t="t"/>
            <a:pathLst>
              <a:path extrusionOk="0" h="2290191" w="19391376">
                <a:moveTo>
                  <a:pt x="0" y="0"/>
                </a:moveTo>
                <a:lnTo>
                  <a:pt x="19391376" y="0"/>
                </a:lnTo>
                <a:lnTo>
                  <a:pt x="19391376" y="2290191"/>
                </a:lnTo>
                <a:lnTo>
                  <a:pt x="0" y="2290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2"/>
          <p:cNvSpPr txBox="1"/>
          <p:nvPr/>
        </p:nvSpPr>
        <p:spPr>
          <a:xfrm>
            <a:off x="1872253" y="8868953"/>
            <a:ext cx="14712048" cy="650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100% Monitoring, 0% Guesswork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